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Merriweather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h2NkpIrg7GK7H0FbIEtvzqQJEh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D656A88-321D-4D9F-A410-3349544DA19A}">
  <a:tblStyle styleId="{DD656A88-321D-4D9F-A410-3349544DA19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-regular.fntdata"/><Relationship Id="rId21" Type="http://schemas.openxmlformats.org/officeDocument/2006/relationships/slide" Target="slides/slide15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erriweather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Merriweather-italic.fntdata"/><Relationship Id="rId27" Type="http://schemas.openxmlformats.org/officeDocument/2006/relationships/font" Target="fonts/Merriweath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erriweather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Kristin</a:t>
            </a:r>
            <a:endParaRPr sz="140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Glioma - glial cell cancer</a:t>
            </a:r>
            <a:endParaRPr sz="100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rgbClr val="595959"/>
                </a:solidFill>
              </a:rPr>
              <a:t>Meningioma - Spinal cord cancer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400">
                <a:solidFill>
                  <a:srgbClr val="595959"/>
                </a:solidFill>
              </a:rPr>
              <a:t>Pituitary - Pituitary gland cancer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Kristin</a:t>
            </a:r>
            <a:endParaRPr sz="140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Glioma - glial cell cancer</a:t>
            </a:r>
            <a:endParaRPr sz="100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rgbClr val="595959"/>
                </a:solidFill>
              </a:rPr>
              <a:t>Meningioma - Spinal cord cancer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400">
                <a:solidFill>
                  <a:srgbClr val="595959"/>
                </a:solidFill>
              </a:rPr>
              <a:t>Pituitary - Pituitary gland cancer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Kristin</a:t>
            </a:r>
            <a:endParaRPr sz="140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Glioma - glial cell cancer</a:t>
            </a:r>
            <a:endParaRPr sz="100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rgbClr val="595959"/>
                </a:solidFill>
              </a:rPr>
              <a:t>Meningioma - Spinal cord cancer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400">
                <a:solidFill>
                  <a:srgbClr val="595959"/>
                </a:solidFill>
              </a:rPr>
              <a:t>Pituitary - Pituitary gland cancer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d0fc8dfdc_1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ad0fc8dfdc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Kristin</a:t>
            </a:r>
            <a:endParaRPr sz="140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Glioma - glial cell cancer</a:t>
            </a:r>
            <a:endParaRPr sz="100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rgbClr val="595959"/>
                </a:solidFill>
              </a:rPr>
              <a:t>Meningioma - Spinal cord cancer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400">
                <a:solidFill>
                  <a:srgbClr val="595959"/>
                </a:solidFill>
              </a:rPr>
              <a:t>Pituitary - Pituitary gland cancer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d0fc8dfdc_1_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ad0fc8dfdc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Kristin</a:t>
            </a:r>
            <a:endParaRPr sz="140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Glioma - glial cell cancer</a:t>
            </a:r>
            <a:endParaRPr sz="100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rgbClr val="595959"/>
                </a:solidFill>
              </a:rPr>
              <a:t>Meningioma - Spinal cord cancer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400">
                <a:solidFill>
                  <a:srgbClr val="595959"/>
                </a:solidFill>
              </a:rPr>
              <a:t>Pituitary - Pituitary gland cancer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d0fc8dfdc_1_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ad0fc8dfdc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Kristin</a:t>
            </a:r>
            <a:endParaRPr sz="140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Glioma - glial cell cancer</a:t>
            </a:r>
            <a:endParaRPr sz="100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rgbClr val="595959"/>
                </a:solidFill>
              </a:rPr>
              <a:t>Meningioma - Spinal cord cancer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400">
                <a:solidFill>
                  <a:srgbClr val="595959"/>
                </a:solidFill>
              </a:rPr>
              <a:t>Pituitary - Pituitary gland cancer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d0fc8dfd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d0fc8dfd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d0fc8dfd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d0fc8dfd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d0fc8dfd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d0fc8dfd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d0fc8dfd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d0fc8dfd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d0fc8dfd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d0fc8dfd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9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9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0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1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0" name="Google Shape;20;p11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1" name="Google Shape;21;p11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2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Google Shape;26;p12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7" name="Google Shape;27;p12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3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3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4" name="Google Shape;3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4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7" name="Google Shape;3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5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15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2" name="Google Shape;42;p15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6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47" name="Google Shape;4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7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7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1" name="Google Shape;5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/>
          <p:nvPr>
            <p:ph type="ctrTitle"/>
          </p:nvPr>
        </p:nvSpPr>
        <p:spPr>
          <a:xfrm>
            <a:off x="228150" y="29917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 sz="4100"/>
              <a:t>Financial News headlines Sentiment Classification</a:t>
            </a:r>
            <a:endParaRPr b="1" sz="4100"/>
          </a:p>
        </p:txBody>
      </p:sp>
      <p:sp>
        <p:nvSpPr>
          <p:cNvPr id="59" name="Google Shape;59;p1"/>
          <p:cNvSpPr txBox="1"/>
          <p:nvPr/>
        </p:nvSpPr>
        <p:spPr>
          <a:xfrm>
            <a:off x="4036825" y="2914525"/>
            <a:ext cx="4576200" cy="30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NLP Final Project</a:t>
            </a:r>
            <a:endParaRPr b="1" i="0" sz="2400" u="none" cap="none" strike="noStrike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9144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Fall 2025</a:t>
            </a:r>
            <a:endParaRPr/>
          </a:p>
          <a:p>
            <a:pPr indent="0" lvl="0" marL="9144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DATS 6312.11- NLP</a:t>
            </a:r>
            <a:endParaRPr b="1" i="0" sz="2400" u="none" cap="none" strike="noStrike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9144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Abirham Getie </a:t>
            </a:r>
            <a:endParaRPr b="0" i="0" sz="2200" u="none" cap="none" strike="noStrike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9144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Julio Montoya</a:t>
            </a:r>
            <a:endParaRPr b="0" i="0" sz="2200" u="none" cap="none" strike="noStrike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60" name="Google Shape;60;p1"/>
          <p:cNvPicPr preferRelativeResize="0"/>
          <p:nvPr/>
        </p:nvPicPr>
        <p:blipFill rotWithShape="1">
          <a:blip r:embed="rId3">
            <a:alphaModFix/>
          </a:blip>
          <a:srcRect b="5624" l="0" r="0" t="0"/>
          <a:stretch/>
        </p:blipFill>
        <p:spPr>
          <a:xfrm>
            <a:off x="1068725" y="1888050"/>
            <a:ext cx="3948625" cy="300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>
            <p:ph type="title"/>
          </p:nvPr>
        </p:nvSpPr>
        <p:spPr>
          <a:xfrm>
            <a:off x="396850" y="446700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Scope of the Project</a:t>
            </a:r>
            <a:endParaRPr/>
          </a:p>
        </p:txBody>
      </p:sp>
      <p:sp>
        <p:nvSpPr>
          <p:cNvPr id="66" name="Google Shape;66;p2"/>
          <p:cNvSpPr txBox="1"/>
          <p:nvPr/>
        </p:nvSpPr>
        <p:spPr>
          <a:xfrm>
            <a:off x="287800" y="1689750"/>
            <a:ext cx="79764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Financial markets react strongly to the tone of news headlines.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Positive news boosts investor confidence, while negative news often triggers sell-offs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Short-term price movements are affected by sentiment and investor psychology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Huge volume of daily financial news makes manual sentiment evaluation impossible.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This project uses NLP to automatically classify headlines as positive, negative, or neutral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Goal: Explore how news sentiment influences market behavior and supports better investment decisions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 txBox="1"/>
          <p:nvPr>
            <p:ph type="title"/>
          </p:nvPr>
        </p:nvSpPr>
        <p:spPr>
          <a:xfrm>
            <a:off x="396850" y="446700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72" name="Google Shape;72;p3"/>
          <p:cNvSpPr txBox="1"/>
          <p:nvPr/>
        </p:nvSpPr>
        <p:spPr>
          <a:xfrm>
            <a:off x="640600" y="1736175"/>
            <a:ext cx="67785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Source: Massive Stock News Analysis Database (Kaggle)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Samples: 4 million of financial news headlines from 2009 to 2020. For running purposes we use only 10,000 rows for our project.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• Headline text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 • Publisher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 • Publication date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 • Stock name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 txBox="1"/>
          <p:nvPr>
            <p:ph type="title"/>
          </p:nvPr>
        </p:nvSpPr>
        <p:spPr>
          <a:xfrm>
            <a:off x="396850" y="446700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Preprocessing</a:t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200525" y="2425375"/>
            <a:ext cx="919200" cy="10026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Raw dataset (1.8 M)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1416950" y="2042875"/>
            <a:ext cx="1847400" cy="1767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Cleaning Data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(headline, publisher, date, stock name)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Lowercasing              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URLs symbols &amp; numbers 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Multiple spaces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SpaCy lemmatization      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Stopwords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3536850" y="2042875"/>
            <a:ext cx="1598400" cy="1767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FinBERT Tokenization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Truncate to 128 tokens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Convert to tensors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407750" y="2042875"/>
            <a:ext cx="2070300" cy="1767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FinBERT Sentiment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negative / neutral / positive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Softmax confidence score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2" name="Google Shape;82;p4"/>
          <p:cNvCxnSpPr>
            <a:stCxn id="78" idx="3"/>
            <a:endCxn id="83" idx="1"/>
          </p:cNvCxnSpPr>
          <p:nvPr/>
        </p:nvCxnSpPr>
        <p:spPr>
          <a:xfrm>
            <a:off x="1119725" y="2926675"/>
            <a:ext cx="23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p4"/>
          <p:cNvCxnSpPr>
            <a:stCxn id="83" idx="3"/>
            <a:endCxn id="79" idx="1"/>
          </p:cNvCxnSpPr>
          <p:nvPr/>
        </p:nvCxnSpPr>
        <p:spPr>
          <a:xfrm>
            <a:off x="1179950" y="29266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" name="Google Shape;85;p4"/>
          <p:cNvCxnSpPr>
            <a:stCxn id="79" idx="3"/>
            <a:endCxn id="80" idx="1"/>
          </p:cNvCxnSpPr>
          <p:nvPr/>
        </p:nvCxnSpPr>
        <p:spPr>
          <a:xfrm>
            <a:off x="3264350" y="2926675"/>
            <a:ext cx="272400" cy="600"/>
          </a:xfrm>
          <a:prstGeom prst="bentConnector3">
            <a:avLst>
              <a:gd fmla="val 5001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" name="Google Shape;86;p4"/>
          <p:cNvSpPr/>
          <p:nvPr/>
        </p:nvSpPr>
        <p:spPr>
          <a:xfrm>
            <a:off x="7832350" y="2425675"/>
            <a:ext cx="1085100" cy="10026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Cleaned labelled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dataset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" name="Google Shape;87;p4"/>
          <p:cNvCxnSpPr>
            <a:stCxn id="81" idx="3"/>
            <a:endCxn id="86" idx="1"/>
          </p:cNvCxnSpPr>
          <p:nvPr/>
        </p:nvCxnSpPr>
        <p:spPr>
          <a:xfrm>
            <a:off x="7478050" y="2926675"/>
            <a:ext cx="3543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4"/>
          <p:cNvCxnSpPr>
            <a:stCxn id="80" idx="3"/>
            <a:endCxn id="81" idx="1"/>
          </p:cNvCxnSpPr>
          <p:nvPr/>
        </p:nvCxnSpPr>
        <p:spPr>
          <a:xfrm>
            <a:off x="5135250" y="2926675"/>
            <a:ext cx="272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d0fc8dfdc_1_27"/>
          <p:cNvSpPr txBox="1"/>
          <p:nvPr>
            <p:ph type="title"/>
          </p:nvPr>
        </p:nvSpPr>
        <p:spPr>
          <a:xfrm>
            <a:off x="396850" y="446700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EDAs Analysis</a:t>
            </a:r>
            <a:endParaRPr/>
          </a:p>
        </p:txBody>
      </p:sp>
      <p:pic>
        <p:nvPicPr>
          <p:cNvPr id="94" name="Google Shape;94;g3ad0fc8dfdc_1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138" y="1405125"/>
            <a:ext cx="2704799" cy="154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g3ad0fc8dfdc_1_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2775" y="1554975"/>
            <a:ext cx="5467401" cy="298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g3ad0fc8dfdc_1_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4225" y="3280125"/>
            <a:ext cx="2406625" cy="158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d0fc8dfdc_1_48"/>
          <p:cNvSpPr txBox="1"/>
          <p:nvPr>
            <p:ph type="title"/>
          </p:nvPr>
        </p:nvSpPr>
        <p:spPr>
          <a:xfrm>
            <a:off x="396850" y="446700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EDAs Analysis</a:t>
            </a:r>
            <a:endParaRPr/>
          </a:p>
        </p:txBody>
      </p:sp>
      <p:pic>
        <p:nvPicPr>
          <p:cNvPr id="102" name="Google Shape;102;g3ad0fc8dfdc_1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2513" y="1511750"/>
            <a:ext cx="6138974" cy="3424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d0fc8dfdc_1_56"/>
          <p:cNvSpPr txBox="1"/>
          <p:nvPr>
            <p:ph type="title"/>
          </p:nvPr>
        </p:nvSpPr>
        <p:spPr>
          <a:xfrm>
            <a:off x="396850" y="446700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EDAs Analysis</a:t>
            </a:r>
            <a:endParaRPr/>
          </a:p>
        </p:txBody>
      </p:sp>
      <p:pic>
        <p:nvPicPr>
          <p:cNvPr id="108" name="Google Shape;108;g3ad0fc8dfdc_1_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275" y="1158225"/>
            <a:ext cx="4325299" cy="2759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3ad0fc8dfdc_1_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2" y="1126975"/>
            <a:ext cx="4325299" cy="275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ad0fc8dfdc_1_56"/>
          <p:cNvSpPr txBox="1"/>
          <p:nvPr/>
        </p:nvSpPr>
        <p:spPr>
          <a:xfrm>
            <a:off x="4806500" y="3943000"/>
            <a:ext cx="3767100" cy="13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 Negative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Earnings, results, recall, slides, transcript (financial words)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auto, gold, barrick (Industries)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g3ad0fc8dfdc_1_56"/>
          <p:cNvSpPr txBox="1"/>
          <p:nvPr/>
        </p:nvSpPr>
        <p:spPr>
          <a:xfrm>
            <a:off x="396850" y="4005475"/>
            <a:ext cx="3767100" cy="11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 Positive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Earnings, revenue, growth, hit, beats, stock(financial words)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auto, gold, barrick, ABB (Industries)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"/>
              <a:t>Model Architecture</a:t>
            </a:r>
            <a:endParaRPr/>
          </a:p>
        </p:txBody>
      </p:sp>
      <p:pic>
        <p:nvPicPr>
          <p:cNvPr id="117" name="Google Shape;117;p5"/>
          <p:cNvPicPr preferRelativeResize="0"/>
          <p:nvPr/>
        </p:nvPicPr>
        <p:blipFill rotWithShape="1">
          <a:blip r:embed="rId3">
            <a:alphaModFix/>
          </a:blip>
          <a:srcRect b="0" l="0" r="0" t="14857"/>
          <a:stretch/>
        </p:blipFill>
        <p:spPr>
          <a:xfrm>
            <a:off x="763650" y="1547550"/>
            <a:ext cx="6789401" cy="316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d0fc8dfdc_0_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Traditional Models</a:t>
            </a:r>
            <a:endParaRPr/>
          </a:p>
        </p:txBody>
      </p:sp>
      <p:sp>
        <p:nvSpPr>
          <p:cNvPr id="123" name="Google Shape;123;g3ad0fc8dfdc_0_1"/>
          <p:cNvSpPr txBox="1"/>
          <p:nvPr/>
        </p:nvSpPr>
        <p:spPr>
          <a:xfrm>
            <a:off x="-174000" y="2038850"/>
            <a:ext cx="41649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Used Logistic Regression with TF-IDF as the baseline model.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Performed well on negative and neutral classes.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Evaluated using Accuracy and Macro F1-score to handle class imbalance.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Results: Achieved 80% accuracy and a 0.746 Macro-F1 score.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g3ad0fc8dfdc_0_1"/>
          <p:cNvSpPr txBox="1"/>
          <p:nvPr/>
        </p:nvSpPr>
        <p:spPr>
          <a:xfrm>
            <a:off x="4666375" y="1478950"/>
            <a:ext cx="3676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u="sng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Results</a:t>
            </a:r>
            <a:endParaRPr b="1" sz="1700" u="sng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25" name="Google Shape;125;g3ad0fc8dfdc_0_1"/>
          <p:cNvGraphicFramePr/>
          <p:nvPr/>
        </p:nvGraphicFramePr>
        <p:xfrm>
          <a:off x="4121450" y="198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{DD656A88-321D-4D9F-A410-3349544DA19A}</a:tableStyleId>
              </a:tblPr>
              <a:tblGrid>
                <a:gridCol w="1040375"/>
                <a:gridCol w="942700"/>
                <a:gridCol w="930025"/>
                <a:gridCol w="959975"/>
                <a:gridCol w="1093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200"/>
                        <a:t>Class</a:t>
                      </a:r>
                      <a:endParaRPr b="1"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200"/>
                        <a:t>Precision</a:t>
                      </a:r>
                      <a:endParaRPr b="1"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200"/>
                        <a:t>Recall</a:t>
                      </a:r>
                      <a:endParaRPr b="1"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200"/>
                        <a:t>F1-score</a:t>
                      </a:r>
                      <a:endParaRPr b="1"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200"/>
                        <a:t>Support</a:t>
                      </a:r>
                      <a:endParaRPr b="1"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Negative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0.90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0.84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0.87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910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6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Neutral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0.75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0.77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0.76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399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Positive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0.52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0.67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0.58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178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5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200"/>
                        <a:t>Accuracy</a:t>
                      </a:r>
                      <a:endParaRPr b="1"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200">
                          <a:highlight>
                            <a:srgbClr val="FFFF00"/>
                          </a:highlight>
                        </a:rPr>
                        <a:t>0.80</a:t>
                      </a:r>
                      <a:endParaRPr b="1" sz="1200">
                        <a:highlight>
                          <a:srgbClr val="FFFF00"/>
                        </a:highlight>
                      </a:endParaRPr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1,487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200"/>
                        <a:t>Macro Avg</a:t>
                      </a:r>
                      <a:endParaRPr b="1"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0.72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0.76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0.74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1,487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6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200"/>
                        <a:t>Weighted Avg</a:t>
                      </a:r>
                      <a:endParaRPr b="1"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0.81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0.80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0.81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1,487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"/>
              <a:t>DistilBERT Transformer Model</a:t>
            </a:r>
            <a:endParaRPr/>
          </a:p>
        </p:txBody>
      </p:sp>
      <p:sp>
        <p:nvSpPr>
          <p:cNvPr id="131" name="Google Shape;131;p6"/>
          <p:cNvSpPr txBox="1"/>
          <p:nvPr/>
        </p:nvSpPr>
        <p:spPr>
          <a:xfrm>
            <a:off x="5036925" y="1385350"/>
            <a:ext cx="3510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u="sng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Results</a:t>
            </a:r>
            <a:endParaRPr b="1" sz="1700" u="sng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32" name="Google Shape;132;p6"/>
          <p:cNvGraphicFramePr/>
          <p:nvPr/>
        </p:nvGraphicFramePr>
        <p:xfrm>
          <a:off x="4225750" y="198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{DD656A88-321D-4D9F-A410-3349544DA19A}</a:tableStyleId>
              </a:tblPr>
              <a:tblGrid>
                <a:gridCol w="734500"/>
                <a:gridCol w="995800"/>
                <a:gridCol w="1074400"/>
                <a:gridCol w="927000"/>
                <a:gridCol w="1103925"/>
              </a:tblGrid>
              <a:tr h="3623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200"/>
                        <a:t>Epoch</a:t>
                      </a:r>
                      <a:endParaRPr b="1"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200"/>
                        <a:t> Train Loss</a:t>
                      </a:r>
                      <a:endParaRPr b="1"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200"/>
                        <a:t>         	Val Loss</a:t>
                      </a:r>
                      <a:endParaRPr b="1"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200"/>
                        <a:t> Val Acc</a:t>
                      </a:r>
                      <a:endParaRPr b="1"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200"/>
                        <a:t> </a:t>
                      </a:r>
                      <a:r>
                        <a:rPr b="1" lang="en" sz="1200"/>
                        <a:t>Val   F1</a:t>
                      </a:r>
                      <a:endParaRPr b="1"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3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0.2198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          	0.4053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0.8574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0.8193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3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0.1686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          	0.3901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0.8668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0.8195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3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0.1106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          	0.4331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0.8749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0.8333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3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0.0762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         	0.4627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0.8716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0.8307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3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0.0522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         	0.4787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0.8763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0.8345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3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0.0396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          	0.4855</a:t>
                      </a:r>
                      <a:endParaRPr sz="1200"/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highlight>
                            <a:srgbClr val="FFFF00"/>
                          </a:highlight>
                        </a:rPr>
                        <a:t>0.8796</a:t>
                      </a:r>
                      <a:endParaRPr sz="1200">
                        <a:highlight>
                          <a:srgbClr val="FFFF00"/>
                        </a:highlight>
                      </a:endParaRPr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0.8388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525" marB="9525" marR="9525" marL="95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" name="Google Shape;133;p6"/>
          <p:cNvSpPr txBox="1"/>
          <p:nvPr/>
        </p:nvSpPr>
        <p:spPr>
          <a:xfrm>
            <a:off x="-235750" y="1957163"/>
            <a:ext cx="41997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We Fine-tuned  the pretrained model on our dataset using Adam</a:t>
            </a:r>
            <a:r>
              <a:rPr lang="en"/>
              <a:t>W</a:t>
            </a:r>
            <a:r>
              <a:rPr lang="en"/>
              <a:t>, 6 epochs, and learning rate 2e-5.</a:t>
            </a:r>
            <a:endParaRPr/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Learns the context of the headlines  better than classical models.</a:t>
            </a:r>
            <a:endParaRPr/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Results: Achieved  0.88 accuracy and  0.84 macro-F1, clearly outperforming TF-IDF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d0fc8dfdc_0_1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Confusion Matrix</a:t>
            </a:r>
            <a:endParaRPr/>
          </a:p>
        </p:txBody>
      </p:sp>
      <p:pic>
        <p:nvPicPr>
          <p:cNvPr id="139" name="Google Shape;139;g3ad0fc8dfdc_0_13"/>
          <p:cNvPicPr preferRelativeResize="0"/>
          <p:nvPr/>
        </p:nvPicPr>
        <p:blipFill rotWithShape="1">
          <a:blip r:embed="rId3">
            <a:alphaModFix/>
          </a:blip>
          <a:srcRect b="1299" l="0" r="990" t="6517"/>
          <a:stretch/>
        </p:blipFill>
        <p:spPr>
          <a:xfrm>
            <a:off x="3840750" y="1362875"/>
            <a:ext cx="4800876" cy="350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ad0fc8dfdc_0_13"/>
          <p:cNvSpPr txBox="1"/>
          <p:nvPr/>
        </p:nvSpPr>
        <p:spPr>
          <a:xfrm>
            <a:off x="311725" y="1863850"/>
            <a:ext cx="3420300" cy="23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Highlights: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Strong performance on negative and neutral classes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Positive is the most difficult class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Some neutral headlines predicted as negative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Some negative headlines predicted as neutral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d0fc8dfdc_0_1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Embedding Analysis</a:t>
            </a:r>
            <a:endParaRPr/>
          </a:p>
        </p:txBody>
      </p:sp>
      <p:pic>
        <p:nvPicPr>
          <p:cNvPr id="146" name="Google Shape;146;g3ad0fc8dfdc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6250" y="1429425"/>
            <a:ext cx="4920789" cy="371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ad0fc8dfdc_0_17"/>
          <p:cNvSpPr txBox="1"/>
          <p:nvPr/>
        </p:nvSpPr>
        <p:spPr>
          <a:xfrm>
            <a:off x="143550" y="1863850"/>
            <a:ext cx="37734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We applied PCA and K-Means to reduce the CLS embeddings to 2D and explore how the model organizes financial headlines in semantic space.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br>
              <a:rPr lang="en" sz="1100">
                <a:latin typeface="Roboto"/>
                <a:ea typeface="Roboto"/>
                <a:cs typeface="Roboto"/>
                <a:sym typeface="Roboto"/>
              </a:rPr>
            </a:b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Results: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The Transformer forms meaningful clusters, showing that DistilBERT learns underlying structure in the headlines even when sentiment is subtle or overlapping.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d0fc8dfdc_0_2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Streamlit dashboard</a:t>
            </a:r>
            <a:endParaRPr/>
          </a:p>
        </p:txBody>
      </p:sp>
      <p:pic>
        <p:nvPicPr>
          <p:cNvPr id="153" name="Google Shape;153;g3ad0fc8dfdc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4050" y="1646350"/>
            <a:ext cx="5274801" cy="332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ad0fc8dfdc_0_21"/>
          <p:cNvSpPr txBox="1"/>
          <p:nvPr/>
        </p:nvSpPr>
        <p:spPr>
          <a:xfrm>
            <a:off x="78300" y="2005200"/>
            <a:ext cx="3480000" cy="28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Built a simple Stream-lit interface to experiment with the model in real time.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Users can play and enter any financial headline and receive a real-time sentiment prediction with class probabilities.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"/>
              <a:t>Takeaways</a:t>
            </a:r>
            <a:endParaRPr/>
          </a:p>
        </p:txBody>
      </p:sp>
      <p:sp>
        <p:nvSpPr>
          <p:cNvPr id="160" name="Google Shape;160;p7"/>
          <p:cNvSpPr txBox="1"/>
          <p:nvPr/>
        </p:nvSpPr>
        <p:spPr>
          <a:xfrm>
            <a:off x="1133100" y="1722475"/>
            <a:ext cx="7158600" cy="22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Considering DistilBERT needs labeled dataset, we have used FinBERT to transform and label our dataset in preprocessing.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DistilBERT significantly outperformed the TF-IDF model, especially on context-dependent headlines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 can say that Classical models captured surface-level patterns, while the Transformer learned deeper financial semantics.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Positive sentiment remains the hardest class due to class imbalance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model can be extended by using other transformer models, more data, or interpretability tools. 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d0fc8dfdc_0_4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ad0fc8dfdc_0_47"/>
          <p:cNvSpPr txBox="1"/>
          <p:nvPr/>
        </p:nvSpPr>
        <p:spPr>
          <a:xfrm>
            <a:off x="2557625" y="2701150"/>
            <a:ext cx="4077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Thank you </a:t>
            </a:r>
            <a:endParaRPr b="1" sz="4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Usuario</dc:creator>
</cp:coreProperties>
</file>